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63" r:id="rId5"/>
    <p:sldId id="264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87" r:id="rId15"/>
    <p:sldId id="277" r:id="rId16"/>
    <p:sldId id="276" r:id="rId17"/>
    <p:sldId id="285" r:id="rId18"/>
    <p:sldId id="28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51" y="8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BEAF15-028D-44A6-A2F1-F36A62B72439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0BEA47-6719-4A69-A9AB-149A4B1F1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627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Unknown, organic search and paid search generate nearly all revenue and orders; referral is small.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SR onboarded sellers generating R$136,489 in merchandise revenue.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seller: R$226,988 merchandise revenue.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Worst seller: 88.5% late deliveries (min 10 orders).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Resellers: 3,881 orders, AOV 185.30. Manufacturers: 577 orders, AOV 163.40.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 401, TO 273, AP 67, RR 45 customers.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 highest, about 71 sellers per 1,000 customers.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 traffic 55.4%, paid search 51.8%, other 50%, unknown 45.3%, organic 41.7%.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535A2-EA0A-188F-34EF-AF58377925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E88516-B601-5063-22F9-011852E372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2994C-310A-E7FC-880C-1491AF960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06845-CA3C-490F-A889-763D8EF1C878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288D00-B04E-4D5E-2103-E6E237D10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756DD4-1F53-FD2E-2E80-74BE67ADA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10F57-13FA-404D-AB9A-1FB195DA4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904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7137B-824C-3FC1-F678-5FF415189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E4CAB-AD67-F3DB-3735-29FD58887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9FB065-73E7-3511-A913-2EF21AAE4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06845-CA3C-490F-A889-763D8EF1C878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E84296-C954-88F9-BD62-9A1A08882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FCB863-9034-45B2-84CE-FCFE958FB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10F57-13FA-404D-AB9A-1FB195DA4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013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B5A3D-8DB9-B839-4241-FFF7FE6AF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E3E0F7-7809-3244-9814-6C3450F693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4926FB-1106-3107-D32B-CF11F2C3E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06845-CA3C-490F-A889-763D8EF1C878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D37D5-0538-FEFA-A387-9F0B479BC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573A5-3A45-313A-8484-DB344E0F2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10F57-13FA-404D-AB9A-1FB195DA4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527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1648B-A6AD-8197-5B7E-739E8AF97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549B8-EAEC-EE09-2432-7654EC0DD8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BDF5E1-8B78-C848-9449-C4CCC5B385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34E468-8CA7-9BCB-634C-280B18899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06845-CA3C-490F-A889-763D8EF1C878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F52672-0B06-2FF0-7EF4-E69D4C801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368525-D87F-21DA-E631-78C7C1879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10F57-13FA-404D-AB9A-1FB195DA4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461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653CE-FF02-D856-AA9B-93CF56888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9FE095-634A-EE9B-2A4A-31BA9AF79C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FB9A44-46F9-7C41-E0B9-80E9AC0B0A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9FDEC3-2AF5-B043-818E-A937778545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790E44-11AC-E984-4BCD-67C1998EEB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8C4E01-47EA-0D03-5F92-933200F78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06845-CA3C-490F-A889-763D8EF1C878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F299F7-0E46-E677-1A00-14BCC81D2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DE3F69-17F9-9376-EC08-B9C1E7B97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10F57-13FA-404D-AB9A-1FB195DA4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363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22245-3ED1-5194-1616-4A50DCE6E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6DAA74-DEBF-7CC9-A490-833359D9F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06845-CA3C-490F-A889-763D8EF1C878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B1D21-8E65-53D6-ECFE-B9671C847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1E72A1-5B8E-D407-7F5F-DD076527F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10F57-13FA-404D-AB9A-1FB195DA4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497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7ABA03-FDDE-7FE4-62FC-21C70BB4A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06845-CA3C-490F-A889-763D8EF1C878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B05A7B-6427-DADE-EF6E-0BDEA2764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25155-0773-124D-9A45-301EAC9FA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10F57-13FA-404D-AB9A-1FB195DA4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098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442A9-634F-6948-49AF-ABD766334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A7D71-3062-7C70-2A97-7F22922903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DE17A7-4C1C-0E79-6C5A-C9C263308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1A01B7-6122-5721-F7DC-30B1C5CC1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06845-CA3C-490F-A889-763D8EF1C878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7F3154-6D0B-2226-B955-FBBA922E4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60F9EA-E894-D9FE-E41C-E6420C780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10F57-13FA-404D-AB9A-1FB195DA4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685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125D0-066B-2F47-C160-10FC0421B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F7726A-BA9D-D041-C9DF-D7AD0C2D93A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D0994B-5AC0-37BA-F4D5-3098BC053F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30622-5E5F-9AB6-8686-DF8B8A0D4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06845-CA3C-490F-A889-763D8EF1C878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7E3FE5-10FB-565D-03FA-7BF448523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97882E-EFFD-657B-BDD1-3053A1973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10F57-13FA-404D-AB9A-1FB195DA4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791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F2692-33C8-A4BC-5B0E-8EBA75226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4C1C57-1EC9-913B-C627-5C21AFF7B8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DA540-9DD1-511D-6646-D4D39DA4C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06845-CA3C-490F-A889-763D8EF1C878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D48D3-7AA1-4370-5013-D93E5A189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4384EB-72FC-7227-100B-EC209792B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10F57-13FA-404D-AB9A-1FB195DA4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640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AAB803-D380-BDF5-EAC9-D593ED2E26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3E9E30-2876-57D1-876B-049B9DE8A6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705428-1B7B-008E-A79E-AF3D69B43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06845-CA3C-490F-A889-763D8EF1C878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42F36-C859-B8C4-E045-350A357A0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0CEFE-3ED9-A47D-1161-7546C6D41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10F57-13FA-404D-AB9A-1FB195DA4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2140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7498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A19923-34A9-8323-2D10-B7D6E7F4C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607631-0235-91A0-F638-6415C826DD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761CC-C723-E59C-EC28-9E59342A4C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106845-CA3C-490F-A889-763D8EF1C878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4CF03-020D-903C-733B-3E75E7239B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DB3DE6-AFBB-9E5D-8D84-09B9DCAF03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A10F57-13FA-404D-AB9A-1FB195DA4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25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8CC43D-A677-31C2-B797-208574FF8143}"/>
              </a:ext>
            </a:extLst>
          </p:cNvPr>
          <p:cNvSpPr txBox="1"/>
          <p:nvPr/>
        </p:nvSpPr>
        <p:spPr>
          <a:xfrm>
            <a:off x="1102364" y="2220731"/>
            <a:ext cx="10312888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err="1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</a:t>
            </a:r>
            <a:r>
              <a:rPr lang="en-US" sz="4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Seller Evaluation &amp; Channel Analysis</a:t>
            </a:r>
            <a:endParaRPr lang="en-US" sz="4400" dirty="0"/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0762A-C67F-DEA1-467A-E6836EE276C3}"/>
              </a:ext>
            </a:extLst>
          </p:cNvPr>
          <p:cNvSpPr txBox="1"/>
          <p:nvPr/>
        </p:nvSpPr>
        <p:spPr>
          <a:xfrm>
            <a:off x="1102364" y="5005978"/>
            <a:ext cx="7706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Abdulla Alhayki, Sayed Hashim, Mujtuba Alnashaba  |  Group 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22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7AA699-C884-2E8C-3279-F3DA990A4C6F}"/>
              </a:ext>
            </a:extLst>
          </p:cNvPr>
          <p:cNvSpPr txBox="1"/>
          <p:nvPr/>
        </p:nvSpPr>
        <p:spPr>
          <a:xfrm>
            <a:off x="1974713" y="1867711"/>
            <a:ext cx="750975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400" b="1">
                <a:solidFill>
                  <a:srgbClr val="082239"/>
                </a:solidFill>
                <a:latin typeface="Aptos"/>
              </a:defRPr>
            </a:pPr>
            <a:r>
              <a:rPr lang="en-US" dirty="0" err="1"/>
              <a:t>Olist</a:t>
            </a:r>
            <a:r>
              <a:rPr lang="en-US" dirty="0"/>
              <a:t> needs to know if the channels and sales people it uses to acquire new business have been bringing in high-caliber sellers, and if the sellers' performance is consistent among the different seller types and regions.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DAC586-2CFA-E09E-A642-C8C06EB1F562}"/>
              </a:ext>
            </a:extLst>
          </p:cNvPr>
          <p:cNvSpPr txBox="1"/>
          <p:nvPr/>
        </p:nvSpPr>
        <p:spPr>
          <a:xfrm>
            <a:off x="1011676" y="982493"/>
            <a:ext cx="33846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82239"/>
                </a:solidFill>
                <a:latin typeface="Aptos Display"/>
              </a:rPr>
              <a:t>Problem Statement &amp; Objectives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90007A-691D-CC28-C71D-B1A676BB929E}"/>
              </a:ext>
            </a:extLst>
          </p:cNvPr>
          <p:cNvSpPr txBox="1"/>
          <p:nvPr/>
        </p:nvSpPr>
        <p:spPr>
          <a:xfrm>
            <a:off x="1879029" y="4045590"/>
            <a:ext cx="21820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82239"/>
                </a:solidFill>
              </a:rPr>
              <a:t>Acquisition Quality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84A928-ED38-7DCD-2BD7-0CB93C039220}"/>
              </a:ext>
            </a:extLst>
          </p:cNvPr>
          <p:cNvSpPr txBox="1"/>
          <p:nvPr/>
        </p:nvSpPr>
        <p:spPr>
          <a:xfrm>
            <a:off x="4992460" y="4045590"/>
            <a:ext cx="22070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082239"/>
                </a:solidFill>
              </a:rPr>
              <a:t>Seller Performance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2412E3-FDD8-A2FD-7BB9-201795987B82}"/>
              </a:ext>
            </a:extLst>
          </p:cNvPr>
          <p:cNvSpPr txBox="1"/>
          <p:nvPr/>
        </p:nvSpPr>
        <p:spPr>
          <a:xfrm>
            <a:off x="8239497" y="4045589"/>
            <a:ext cx="19827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82239"/>
                </a:solidFill>
              </a:rPr>
              <a:t>Geographic Gaps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B3C323-80E7-293E-27A5-3CCF7713634F}"/>
              </a:ext>
            </a:extLst>
          </p:cNvPr>
          <p:cNvSpPr txBox="1"/>
          <p:nvPr/>
        </p:nvSpPr>
        <p:spPr>
          <a:xfrm>
            <a:off x="1799617" y="5019472"/>
            <a:ext cx="7656968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 sz="1900" b="0">
                <a:solidFill>
                  <a:srgbClr val="5F6D7B"/>
                </a:solidFill>
                <a:latin typeface="Aptos"/>
              </a:defRPr>
            </a:pPr>
            <a:r>
              <a:rPr lang="en-US" dirty="0"/>
              <a:t>Evaluate channel performance, seller activity, orders, sales and reviews</a:t>
            </a:r>
          </a:p>
          <a:p>
            <a:pPr>
              <a:defRPr sz="1900" b="0">
                <a:solidFill>
                  <a:srgbClr val="5F6D7B"/>
                </a:solidFill>
                <a:latin typeface="Aptos"/>
              </a:defRPr>
            </a:pPr>
            <a:r>
              <a:rPr lang="en-US" dirty="0"/>
              <a:t>Identify best performers and problem sellers</a:t>
            </a:r>
          </a:p>
          <a:p>
            <a:pPr>
              <a:defRPr sz="1900" b="0">
                <a:solidFill>
                  <a:srgbClr val="5F6D7B"/>
                </a:solidFill>
                <a:latin typeface="Aptos"/>
              </a:defRPr>
            </a:pPr>
            <a:r>
              <a:rPr lang="en-US" dirty="0"/>
              <a:t>Identify states where there are customers but no sellers</a:t>
            </a:r>
          </a:p>
          <a:p>
            <a:pPr>
              <a:defRPr sz="1900" b="0">
                <a:solidFill>
                  <a:srgbClr val="5F6D7B"/>
                </a:solidFill>
                <a:latin typeface="Aptos"/>
              </a:defRPr>
            </a:pPr>
            <a:r>
              <a:rPr lang="en-US" dirty="0"/>
              <a:t>Recommend steps for acquisitions, onboarding and logistics</a:t>
            </a:r>
          </a:p>
        </p:txBody>
      </p:sp>
    </p:spTree>
    <p:extLst>
      <p:ext uri="{BB962C8B-B14F-4D97-AF65-F5344CB8AC3E}">
        <p14:creationId xmlns:p14="http://schemas.microsoft.com/office/powerpoint/2010/main" val="4026314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E3DCB7-7441-0A4E-6691-95D9D1383424}"/>
              </a:ext>
            </a:extLst>
          </p:cNvPr>
          <p:cNvSpPr txBox="1"/>
          <p:nvPr/>
        </p:nvSpPr>
        <p:spPr>
          <a:xfrm>
            <a:off x="875489" y="1371601"/>
            <a:ext cx="941637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-Order data: 99,441 orders, 99,441 customers, 3,095 sellers; Marketing Funnel: 8,000 MQLs, 842 deals closed</a:t>
            </a:r>
          </a:p>
          <a:p>
            <a:endParaRPr lang="en-US" sz="2400" dirty="0"/>
          </a:p>
          <a:p>
            <a:r>
              <a:rPr lang="en-US" sz="2400" dirty="0"/>
              <a:t>-Table relating sellers and orders: 100,010 records (97,819 shipped), 2,970 sellers with shipped orders</a:t>
            </a:r>
          </a:p>
          <a:p>
            <a:pPr marL="342900" indent="-342900">
              <a:buFontTx/>
              <a:buChar char="-"/>
            </a:pPr>
            <a:endParaRPr lang="en-US" sz="2400" dirty="0"/>
          </a:p>
          <a:p>
            <a:r>
              <a:rPr lang="en-US" sz="2400" dirty="0"/>
              <a:t>- No duplicates found; row counts verified after each merge operation</a:t>
            </a:r>
          </a:p>
          <a:p>
            <a:r>
              <a:rPr lang="en-US" sz="2400" dirty="0"/>
              <a:t>763 orders lacking reviews have been marked as null and removed from calculations</a:t>
            </a:r>
          </a:p>
          <a:p>
            <a:endParaRPr lang="en-US" sz="2400" dirty="0"/>
          </a:p>
          <a:p>
            <a:r>
              <a:rPr lang="en-US" sz="2400" dirty="0"/>
              <a:t>-Calculations started with an average per order and followed by calculation per seller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FCD5EB-2423-F197-CDDD-C4D7F164AA58}"/>
              </a:ext>
            </a:extLst>
          </p:cNvPr>
          <p:cNvSpPr txBox="1"/>
          <p:nvPr/>
        </p:nvSpPr>
        <p:spPr>
          <a:xfrm>
            <a:off x="3190672" y="408562"/>
            <a:ext cx="49906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 &amp; Data Preparation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40655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050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082239"/>
                </a:solidFill>
                <a:latin typeface="Aptos Display"/>
              </a:rPr>
              <a:t>Key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5139"/>
            <a:ext cx="2286000" cy="34471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600" b="1">
                <a:solidFill>
                  <a:srgbClr val="00897B"/>
                </a:solidFill>
                <a:latin typeface="Aptos"/>
              </a:defRPr>
            </a:pPr>
            <a:r>
              <a:rPr lang="en-US" sz="2000" dirty="0"/>
              <a:t>MQL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39440" y="1383068"/>
            <a:ext cx="859536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lang="en-US" dirty="0"/>
              <a:t>Potential seller who passed through the marketing funnel.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9075"/>
            <a:ext cx="2286000" cy="34471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600" b="1">
                <a:solidFill>
                  <a:srgbClr val="00897B"/>
                </a:solidFill>
                <a:latin typeface="Aptos"/>
              </a:defRPr>
            </a:pPr>
            <a:r>
              <a:rPr sz="2000" dirty="0"/>
              <a:t>Closed Deal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39440" y="2019075"/>
            <a:ext cx="859536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lang="en-US" dirty="0"/>
              <a:t>An MQL which became an </a:t>
            </a:r>
            <a:r>
              <a:rPr lang="en-US" dirty="0" err="1"/>
              <a:t>Olist</a:t>
            </a:r>
            <a:r>
              <a:rPr lang="en-US" dirty="0"/>
              <a:t> seller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74696"/>
            <a:ext cx="2286000" cy="34471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600" b="1">
                <a:solidFill>
                  <a:srgbClr val="00897B"/>
                </a:solidFill>
                <a:latin typeface="Aptos"/>
              </a:defRPr>
            </a:pPr>
            <a:r>
              <a:rPr sz="2000" dirty="0"/>
              <a:t>Source of Origin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39440" y="2705744"/>
            <a:ext cx="859536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lang="en-US" dirty="0"/>
              <a:t>The method of customer acquisition like PPC, SEO, or referrals.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49894"/>
            <a:ext cx="2286000" cy="34471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600" b="1">
                <a:solidFill>
                  <a:srgbClr val="00897B"/>
                </a:solidFill>
                <a:latin typeface="Aptos"/>
              </a:defRPr>
            </a:pPr>
            <a:r>
              <a:rPr sz="2000" dirty="0"/>
              <a:t>SDR / SR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39440" y="3349894"/>
            <a:ext cx="859536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lang="en-US" dirty="0"/>
              <a:t>Employee who worked on selling to or closing the seller.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04599"/>
            <a:ext cx="2286000" cy="34471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600" b="1">
                <a:solidFill>
                  <a:srgbClr val="00897B"/>
                </a:solidFill>
                <a:latin typeface="Aptos"/>
              </a:defRPr>
            </a:pPr>
            <a:r>
              <a:rPr sz="2000" dirty="0"/>
              <a:t>Active Seller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39440" y="3994044"/>
            <a:ext cx="8595360" cy="590931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lang="en-US" dirty="0"/>
              <a:t>The most recent order for that particular seller falls within 7 days from the last order date.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95984"/>
            <a:ext cx="2286000" cy="34471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600" b="1">
                <a:solidFill>
                  <a:srgbClr val="00897B"/>
                </a:solidFill>
                <a:latin typeface="Aptos"/>
              </a:defRPr>
            </a:pPr>
            <a:r>
              <a:rPr sz="2000" dirty="0"/>
              <a:t>Late Delivery Ratio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39440" y="4882155"/>
            <a:ext cx="859536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lang="en-US" dirty="0"/>
              <a:t>Number of late deliveries over total number of deliveries.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FINDINGS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943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Funnel &amp; Seller Composition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4747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603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Marketing-qualified leads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43400" y="1645920"/>
            <a:ext cx="34747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4480560" y="18288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842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25603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/ won sellers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46720" y="1645920"/>
            <a:ext cx="34747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183880" y="18288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10.52%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8183880" y="25603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Lead-to-seller conversion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474720"/>
            <a:ext cx="34747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777240" y="36576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3,095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3891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 in the e-commerce data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343400" y="3474720"/>
            <a:ext cx="34747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480560" y="36576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587 / 242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43891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Resellers / manufacturers (rest missing or other)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046720" y="3474720"/>
            <a:ext cx="34747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8183880" y="36576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22</a:t>
            </a:r>
            <a:endParaRPr lang="en-US" sz="3400" dirty="0"/>
          </a:p>
        </p:txBody>
      </p:sp>
      <p:sp>
        <p:nvSpPr>
          <p:cNvPr id="21" name="Text 19"/>
          <p:cNvSpPr txBox="1"/>
          <p:nvPr/>
        </p:nvSpPr>
        <p:spPr>
          <a:xfrm>
            <a:off x="8183880" y="43891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SDRs / SRs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2179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943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sellers compare across acquisition channels, and are referrals the best?</a:t>
            </a:r>
            <a:endParaRPr lang="en-US" sz="2800" dirty="0"/>
          </a:p>
        </p:txBody>
      </p:sp>
      <p:pic>
        <p:nvPicPr>
          <p:cNvPr id="4" name="Image 0" descr="new/a2_12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052" y="1600200"/>
            <a:ext cx="9852849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40080" y="5943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employees (sales reps) selecting the right sellers?</a:t>
            </a:r>
            <a:endParaRPr lang="en-US" sz="2800" dirty="0"/>
          </a:p>
        </p:txBody>
      </p:sp>
      <p:pic>
        <p:nvPicPr>
          <p:cNvPr id="4" name="Image 0" descr="new/a2_14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3058" y="1600200"/>
            <a:ext cx="9842836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40080" y="5943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the top-performing sellers?</a:t>
            </a:r>
            <a:endParaRPr lang="en-US" sz="2800" dirty="0"/>
          </a:p>
        </p:txBody>
      </p:sp>
      <p:pic>
        <p:nvPicPr>
          <p:cNvPr id="4" name="Image 0" descr="new/a2_16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9327" y="1600200"/>
            <a:ext cx="8930298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40080" y="5943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the red-flag sellers and why?</a:t>
            </a:r>
            <a:endParaRPr lang="en-US" sz="2800" dirty="0"/>
          </a:p>
        </p:txBody>
      </p:sp>
      <p:pic>
        <p:nvPicPr>
          <p:cNvPr id="4" name="Image 0" descr="new/a2_18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052" y="1600200"/>
            <a:ext cx="9852849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40080" y="5943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Manufacturers vs. resellers: how do they compare?</a:t>
            </a:r>
            <a:endParaRPr lang="en-US" sz="2800" dirty="0"/>
          </a:p>
        </p:txBody>
      </p:sp>
      <p:pic>
        <p:nvPicPr>
          <p:cNvPr id="4" name="Image 0" descr="new/a2_20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" y="1675397"/>
            <a:ext cx="10881360" cy="470545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81167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082239"/>
                </a:solidFill>
                <a:latin typeface="Aptos Display"/>
              </a:rPr>
              <a:t>Are top sellers successful because of price or customer satisfaction?</a:t>
            </a:r>
          </a:p>
        </p:txBody>
      </p:sp>
      <p:pic>
        <p:nvPicPr>
          <p:cNvPr id="3" name="Picture 2" descr="q8_pric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5532120" cy="3977639"/>
          </a:xfrm>
          <a:prstGeom prst="rect">
            <a:avLst/>
          </a:prstGeom>
        </p:spPr>
      </p:pic>
      <p:pic>
        <p:nvPicPr>
          <p:cNvPr id="4" name="Picture 3" descr="q8_review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325880"/>
            <a:ext cx="5532120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577840"/>
            <a:ext cx="10972800" cy="529376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600" b="1">
                <a:solidFill>
                  <a:srgbClr val="082239"/>
                </a:solidFill>
                <a:latin typeface="Aptos"/>
              </a:defRPr>
            </a:pPr>
            <a:r>
              <a:rPr lang="ar-BH" dirty="0"/>
              <a:t>While</a:t>
            </a:r>
            <a:r>
              <a:rPr lang="en-US" dirty="0"/>
              <a:t> top sellers charge higher product prices (223.75 versus 177.50) but have a lower number of reviews (4.11 versus 4.18), this points out that their sales success depends on price rather than customer reviews.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9A98017-50E7-4E8C-A1E1-537F2BD0BC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72" y="1100970"/>
            <a:ext cx="11982031" cy="56390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7ED048B-A0EF-77C9-8838-165F22E2B058}"/>
              </a:ext>
            </a:extLst>
          </p:cNvPr>
          <p:cNvSpPr txBox="1"/>
          <p:nvPr/>
        </p:nvSpPr>
        <p:spPr>
          <a:xfrm>
            <a:off x="0" y="250724"/>
            <a:ext cx="64155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Where are the top sellers located?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755924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082239"/>
                </a:solidFill>
                <a:latin typeface="Aptos Display"/>
              </a:rPr>
              <a:t>How many sellers do we have, and are all active?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97280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600" b="1">
                <a:solidFill>
                  <a:srgbClr val="5F6D7B"/>
                </a:solidFill>
                <a:latin typeface="Aptos"/>
              </a:defRPr>
            </a:pPr>
            <a:r>
              <a:rPr dirty="0"/>
              <a:t>Definition used: Active seller = most recent order within 7 days of the final order date in the dataset.</a:t>
            </a:r>
          </a:p>
        </p:txBody>
      </p:sp>
      <p:pic>
        <p:nvPicPr>
          <p:cNvPr id="4" name="Picture 3" descr="q10_activity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492240" cy="4251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35240" y="1828800"/>
            <a:ext cx="3794760" cy="5943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2200" b="1">
                <a:solidFill>
                  <a:srgbClr val="082239"/>
                </a:solidFill>
                <a:latin typeface="Aptos"/>
              </a:defRPr>
            </a:pPr>
            <a:r>
              <a:t>3,095 total sellers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35240" y="2651760"/>
            <a:ext cx="379476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900" b="1">
                <a:solidFill>
                  <a:srgbClr val="00897B"/>
                </a:solidFill>
                <a:latin typeface="Aptos"/>
              </a:defRPr>
            </a:pPr>
            <a:r>
              <a:t>1,221 active sellers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5240" y="3337560"/>
            <a:ext cx="379476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900" b="1">
                <a:solidFill>
                  <a:srgbClr val="082239"/>
                </a:solidFill>
                <a:latin typeface="Aptos"/>
              </a:defRPr>
            </a:pPr>
            <a:r>
              <a:t>1,874 inactive sellers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4251960"/>
            <a:ext cx="3794760" cy="11887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600" b="0">
                <a:solidFill>
                  <a:srgbClr val="5F6D7B"/>
                </a:solidFill>
                <a:latin typeface="Aptos"/>
              </a:defRPr>
            </a:pPr>
            <a:r>
              <a:rPr dirty="0"/>
              <a:t>Not all sellers are active. The inactive group is larger than the active group under the 7-day activity definition.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943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states have customers but zero sellers?</a:t>
            </a:r>
            <a:endParaRPr lang="en-US" sz="2800" dirty="0"/>
          </a:p>
        </p:txBody>
      </p:sp>
      <p:pic>
        <p:nvPicPr>
          <p:cNvPr id="4" name="Image 0" descr="new/b2_38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6318" y="1600200"/>
            <a:ext cx="6396316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40080" y="5943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we have a good seller-to-customer ratio?</a:t>
            </a:r>
            <a:endParaRPr lang="en-US" sz="2800" dirty="0"/>
          </a:p>
        </p:txBody>
      </p:sp>
      <p:pic>
        <p:nvPicPr>
          <p:cNvPr id="4" name="Image 0" descr="new/b2_42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2452" y="1600200"/>
            <a:ext cx="5864047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082239"/>
                </a:solidFill>
                <a:latin typeface="Aptos Display"/>
              </a:rPr>
              <a:t>Seller Activation After Signing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3474720" cy="1005840"/>
          </a:xfrm>
          <a:prstGeom prst="roundRect">
            <a:avLst/>
          </a:prstGeom>
          <a:solidFill>
            <a:srgbClr val="F5F8FA"/>
          </a:solidFill>
          <a:ln w="15875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82239"/>
                </a:solidFill>
                <a:latin typeface="Aptos"/>
              </a:rPr>
              <a:t>842 signed sellers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34840" y="1417320"/>
            <a:ext cx="3474720" cy="1005840"/>
          </a:xfrm>
          <a:prstGeom prst="roundRect">
            <a:avLst/>
          </a:prstGeom>
          <a:solidFill>
            <a:srgbClr val="F5F8FA"/>
          </a:solidFill>
          <a:ln w="15875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82239"/>
                </a:solidFill>
                <a:latin typeface="Aptos"/>
              </a:rPr>
              <a:t>133 sold within 30 days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417320"/>
            <a:ext cx="3474720" cy="1005840"/>
          </a:xfrm>
          <a:prstGeom prst="roundRect">
            <a:avLst/>
          </a:prstGeom>
          <a:solidFill>
            <a:srgbClr val="F5F8FA"/>
          </a:solidFill>
          <a:ln w="15875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82239"/>
                </a:solidFill>
                <a:latin typeface="Aptos"/>
              </a:rPr>
              <a:t>250 sold within 60 days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71800"/>
            <a:ext cx="10241280" cy="114492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2400" b="1">
                <a:solidFill>
                  <a:srgbClr val="082239"/>
                </a:solidFill>
                <a:latin typeface="Aptos"/>
              </a:defRPr>
            </a:pPr>
            <a:r>
              <a:rPr lang="en-US" sz="2400" b="1" dirty="0">
                <a:solidFill>
                  <a:srgbClr val="082239"/>
                </a:solidFill>
                <a:latin typeface="Aptos"/>
              </a:rPr>
              <a:t>84.2% of the signed sellers have not made a first sale within 30 days and 70.31% have not made a first sale within 60 days.</a:t>
            </a:r>
          </a:p>
          <a:p>
            <a:pPr>
              <a:defRPr sz="2400" b="1">
                <a:solidFill>
                  <a:srgbClr val="082239"/>
                </a:solidFill>
                <a:latin typeface="Aptos"/>
              </a:defRPr>
            </a:pPr>
            <a:r>
              <a:rPr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241280" cy="86793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800" b="0">
                <a:solidFill>
                  <a:srgbClr val="5F6D7B"/>
                </a:solidFill>
                <a:latin typeface="Aptos"/>
              </a:defRPr>
            </a:pPr>
            <a:r>
              <a:rPr lang="ar-BH" dirty="0"/>
              <a:t>There</a:t>
            </a:r>
            <a:r>
              <a:rPr lang="en-US" dirty="0">
                <a:solidFill>
                  <a:srgbClr val="5F6D7B"/>
                </a:solidFill>
                <a:latin typeface="Aptos"/>
              </a:rPr>
              <a:t> is clearly an onboarding problem. The new sellers require assistance and follow-ups for 30-60 days for better activation</a:t>
            </a:r>
          </a:p>
          <a:p>
            <a:pPr>
              <a:defRPr sz="1800" b="0">
                <a:solidFill>
                  <a:srgbClr val="5F6D7B"/>
                </a:solidFill>
                <a:latin typeface="Aptos"/>
              </a:defRPr>
            </a:pP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40080" y="5943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lead channel brings the most retained sellers? Activation rate by channel</a:t>
            </a:r>
            <a:endParaRPr lang="en-US" sz="2800" dirty="0"/>
          </a:p>
        </p:txBody>
      </p:sp>
      <p:pic>
        <p:nvPicPr>
          <p:cNvPr id="4" name="Image 0" descr="new/n_72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3308" y="1600200"/>
            <a:ext cx="7302336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82239"/>
                </a:solidFill>
                <a:latin typeface="Aptos Display"/>
              </a:rPr>
              <a:t>Data-Driven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92024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500" b="1">
                <a:solidFill>
                  <a:srgbClr val="00897B"/>
                </a:solidFill>
                <a:latin typeface="Aptos"/>
              </a:defRPr>
            </a:pPr>
            <a:r>
              <a:rPr dirty="0"/>
              <a:t>Acquisition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23160" y="1234440"/>
            <a:ext cx="9052560" cy="590931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lang="en-US" dirty="0"/>
              <a:t>Paid search should take priority; testing direct traffic and better unknown channel attribution continues.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47088"/>
            <a:ext cx="192024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500" b="1">
                <a:solidFill>
                  <a:srgbClr val="00897B"/>
                </a:solidFill>
                <a:latin typeface="Aptos"/>
              </a:defRPr>
            </a:pPr>
            <a:r>
              <a:rPr dirty="0"/>
              <a:t>Onboarding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23160" y="1847088"/>
            <a:ext cx="9052560" cy="3139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lang="en-US" dirty="0"/>
              <a:t>Include structured first sale program in first 30-60 days.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59736"/>
            <a:ext cx="192024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500" b="1">
                <a:solidFill>
                  <a:srgbClr val="00897B"/>
                </a:solidFill>
                <a:latin typeface="Aptos"/>
              </a:defRPr>
            </a:pPr>
            <a:r>
              <a:t>Employees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2459736"/>
            <a:ext cx="9052560" cy="3139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lang="en-US" dirty="0"/>
              <a:t>Bench the best SR’s/SDR’s and help develop poor performing teams.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72384"/>
            <a:ext cx="192024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500" b="1">
                <a:solidFill>
                  <a:srgbClr val="00897B"/>
                </a:solidFill>
                <a:latin typeface="Aptos"/>
              </a:defRPr>
            </a:pPr>
            <a:r>
              <a:t>Seller 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3072384"/>
            <a:ext cx="9052560" cy="3139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lang="en-US" dirty="0"/>
              <a:t>Create separate benchmarks for resellers and manufacturers.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685032"/>
            <a:ext cx="192024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500" b="1">
                <a:solidFill>
                  <a:srgbClr val="00897B"/>
                </a:solidFill>
                <a:latin typeface="Aptos"/>
              </a:defRPr>
            </a:pPr>
            <a:r>
              <a:t>Geography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685032"/>
            <a:ext cx="9052560" cy="3139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lang="en-US" dirty="0"/>
              <a:t>Focus on acquiring sellers from AL first, then TO, AP and RR.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297680"/>
            <a:ext cx="192024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500" b="1">
                <a:solidFill>
                  <a:srgbClr val="00897B"/>
                </a:solidFill>
                <a:latin typeface="Aptos"/>
              </a:defRPr>
            </a:pPr>
            <a:r>
              <a:t>Delivery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4297680"/>
            <a:ext cx="9052560" cy="3139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lang="en-US" dirty="0"/>
              <a:t>Focus on slower seller states like MA and CE first prior to benchmarking.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910328"/>
            <a:ext cx="192024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500" b="1">
                <a:solidFill>
                  <a:srgbClr val="00897B"/>
                </a:solidFill>
                <a:latin typeface="Aptos"/>
              </a:defRPr>
            </a:pPr>
            <a:r>
              <a:t>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4910328"/>
            <a:ext cx="9052560" cy="3139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lang="en-US" dirty="0"/>
              <a:t>Look at sellers who have late deliveries and poor reviews.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897880"/>
            <a:ext cx="10972800" cy="3139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lang="en-US"/>
              <a:t>Step to follow: apply this pattern to find healthy active sellers from newly acquired sellers.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e069c64-97de-41b1-b6a5-363c07bccaa3}" enabled="1" method="Standard" siteId="{026137b5-e313-46d1-9b2f-026ecb50c842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459</TotalTime>
  <Words>814</Words>
  <Application>Microsoft Office PowerPoint</Application>
  <PresentationFormat>Widescreen</PresentationFormat>
  <Paragraphs>107</Paragraphs>
  <Slides>18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MUJTABA MERZA H. ALNASHABA</dc:creator>
  <cp:lastModifiedBy>MUJTABA MERZA H. ALNASHABA</cp:lastModifiedBy>
  <cp:revision>3</cp:revision>
  <dcterms:created xsi:type="dcterms:W3CDTF">2026-10-04T08:30:30Z</dcterms:created>
  <dcterms:modified xsi:type="dcterms:W3CDTF">2026-10-04T17:45:53Z</dcterms:modified>
</cp:coreProperties>
</file>