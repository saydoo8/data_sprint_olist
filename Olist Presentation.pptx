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87" r:id="rId15"/>
    <p:sldId id="277" r:id="rId16"/>
    <p:sldId id="276" r:id="rId17"/>
    <p:sldId id="285" r:id="rId18"/>
    <p:sldId id="286" r:id="rId19"/>
    <p:sldId id="28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9" autoAdjust="0"/>
    <p:restoredTop sz="94660"/>
  </p:normalViewPr>
  <p:slideViewPr>
    <p:cSldViewPr snapToGrid="0">
      <p:cViewPr>
        <p:scale>
          <a:sx n="60" d="100"/>
          <a:sy n="60" d="100"/>
        </p:scale>
        <p:origin x="1629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AF15-028D-44A6-A2F1-F36A62B724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BEA47-6719-4A69-A9AB-149A4B1F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2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Unknown, organic search and paid search generate nearly all revenue and orders; referral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SR onboarded sellers generating R$136,489 in merchandise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seller: R$226,988 merchandise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Worst seller: 88.5% late deliveries (min 10 orders).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Resellers: 3,881 orders, AOV 185.30. Manufacturers: 577 orders, AOV 163.40.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401, TO 273, AP 67, RR 45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highest, about 71 sellers per 1,000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traffic 55.4%, paid search 51.8%, other 50%, unknown 45.3%, organic 41.7%.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35A2-EA0A-188F-34EF-AF5837792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88516-B601-5063-22F9-011852E37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994C-310A-E7FC-880C-1491AF96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8D00-B04E-4D5E-2103-E6E237D1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56DD4-1F53-FD2E-2E80-74BE67AD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0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137B-824C-3FC1-F678-5FF41518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4CAB-AD67-F3DB-3735-29FD588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FB065-73E7-3511-A913-2EF21AAE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84296-C954-88F9-BD62-9A1A0888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CB863-9034-45B2-84CE-FCFE958F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13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5A3D-8DB9-B839-4241-FFF7FE6A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3E0F7-7809-3244-9814-6C3450F69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26FB-1106-3107-D32B-CF11F2C3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D37D5-0538-FEFA-A387-9F0B479B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73A5-3A45-313A-8484-DB344E0F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2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648B-A6AD-8197-5B7E-739E8AF9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49B8-EAEC-EE09-2432-7654EC0DD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DF5E1-8B78-C848-9449-C4CCC5B38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4E468-8CA7-9BCB-634C-280B1889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52672-0B06-2FF0-7EF4-E69D4C80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68525-D87F-21DA-E631-78C7C187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6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53CE-FF02-D856-AA9B-93CF5688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FE095-634A-EE9B-2A4A-31BA9AF79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B9A44-46F9-7C41-E0B9-80E9AC0B0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FDEC3-2AF5-B043-818E-A93777854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90E44-11AC-E984-4BCD-67C1998EE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8C4E01-47EA-0D03-5F92-933200F7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299F7-0E46-E677-1A00-14BCC81D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E3F69-17F9-9376-EC08-B9C1E7B9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3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2245-3ED1-5194-1616-4A50DCE6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DAA74-DEBF-7CC9-A490-833359D9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1D21-8E65-53D6-ECFE-B9671C84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E72A1-5B8E-D407-7F5F-DD076527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9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ABA03-FDDE-7FE4-62FC-21C70BB4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5A7B-6427-DADE-EF6E-0BDEA276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5155-0773-124D-9A45-301EAC9F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9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42A9-634F-6948-49AF-ABD76633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A7D71-3062-7C70-2A97-7F2292290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E17A7-4C1C-0E79-6C5A-C9C263308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A01B7-6122-5721-F7DC-30B1C5CC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F3154-6D0B-2226-B955-FBBA922E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0F9EA-E894-D9FE-E41C-E6420C78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8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25D0-066B-2F47-C160-10FC0421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7726A-BA9D-D041-C9DF-D7AD0C2D93A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0994B-5AC0-37BA-F4D5-3098BC053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30622-5E5F-9AB6-8686-DF8B8A0D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E3FE5-10FB-565D-03FA-7BF44852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7882E-EFFD-657B-BDD1-3053A197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9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2692-33C8-A4BC-5B0E-8EBA7522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C1C57-1EC9-913B-C627-5C21AFF7B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DA540-9DD1-511D-6646-D4D39DA4C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D48D3-7AA1-4370-5013-D93E5A18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384EB-72FC-7227-100B-EC209792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4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AAB803-D380-BDF5-EAC9-D593ED2E2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E9E30-2876-57D1-876B-049B9DE8A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05428-1B7B-008E-A79E-AF3D69B4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42F36-C859-B8C4-E045-350A357A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CEFE-3ED9-A47D-1161-7546C6D4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14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49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19923-34A9-8323-2D10-B7D6E7F4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07631-0235-91A0-F638-6415C826D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61CC-C723-E59C-EC28-9E59342A4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06845-CA3C-490F-A889-763D8EF1C87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CF03-020D-903C-733B-3E75E7239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3DE6-AFBB-9E5D-8D84-09B9DCAF0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CC43D-A677-31C2-B797-208574FF8143}"/>
              </a:ext>
            </a:extLst>
          </p:cNvPr>
          <p:cNvSpPr txBox="1"/>
          <p:nvPr/>
        </p:nvSpPr>
        <p:spPr>
          <a:xfrm>
            <a:off x="1102364" y="2220731"/>
            <a:ext cx="1031288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Seller Evaluation &amp; Channel Analysis</a:t>
            </a:r>
            <a:endParaRPr lang="en-US" sz="4400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0762A-C67F-DEA1-467A-E6836EE276C3}"/>
              </a:ext>
            </a:extLst>
          </p:cNvPr>
          <p:cNvSpPr txBox="1"/>
          <p:nvPr/>
        </p:nvSpPr>
        <p:spPr>
          <a:xfrm>
            <a:off x="1102364" y="5005978"/>
            <a:ext cx="7706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Abdulla Alhayki, Sayed Hashim, Mujtuba Alnashaba  |  Group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AA699-C884-2E8C-3279-F3DA990A4C6F}"/>
              </a:ext>
            </a:extLst>
          </p:cNvPr>
          <p:cNvSpPr txBox="1"/>
          <p:nvPr/>
        </p:nvSpPr>
        <p:spPr>
          <a:xfrm>
            <a:off x="1974713" y="1867711"/>
            <a:ext cx="75097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solidFill>
                  <a:srgbClr val="082239"/>
                </a:solidFill>
                <a:latin typeface="Aptos"/>
              </a:defRPr>
            </a:pPr>
            <a:r>
              <a:rPr lang="en-US" dirty="0" err="1"/>
              <a:t>Olist</a:t>
            </a:r>
            <a:r>
              <a:rPr lang="en-US" dirty="0"/>
              <a:t> needs to know if the channels and sales people it uses to acquire new business have been bringing in high-caliber sellers, and if the sellers' performance is consistent among the different seller types and regions.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AC586-2CFA-E09E-A642-C8C06EB1F562}"/>
              </a:ext>
            </a:extLst>
          </p:cNvPr>
          <p:cNvSpPr txBox="1"/>
          <p:nvPr/>
        </p:nvSpPr>
        <p:spPr>
          <a:xfrm>
            <a:off x="1011676" y="982493"/>
            <a:ext cx="3384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82239"/>
                </a:solidFill>
                <a:latin typeface="Aptos Display"/>
              </a:rPr>
              <a:t>Problem Statement &amp; Objectives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0007A-691D-CC28-C71D-B1A676BB929E}"/>
              </a:ext>
            </a:extLst>
          </p:cNvPr>
          <p:cNvSpPr txBox="1"/>
          <p:nvPr/>
        </p:nvSpPr>
        <p:spPr>
          <a:xfrm>
            <a:off x="1879029" y="4045590"/>
            <a:ext cx="2182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82239"/>
                </a:solidFill>
              </a:rPr>
              <a:t>Acquisition Quality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4A928-ED38-7DCD-2BD7-0CB93C039220}"/>
              </a:ext>
            </a:extLst>
          </p:cNvPr>
          <p:cNvSpPr txBox="1"/>
          <p:nvPr/>
        </p:nvSpPr>
        <p:spPr>
          <a:xfrm>
            <a:off x="4992460" y="4045590"/>
            <a:ext cx="220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82239"/>
                </a:solidFill>
              </a:rPr>
              <a:t>Seller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412E3-FDD8-A2FD-7BB9-201795987B82}"/>
              </a:ext>
            </a:extLst>
          </p:cNvPr>
          <p:cNvSpPr txBox="1"/>
          <p:nvPr/>
        </p:nvSpPr>
        <p:spPr>
          <a:xfrm>
            <a:off x="8239497" y="4045589"/>
            <a:ext cx="1982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82239"/>
                </a:solidFill>
              </a:rPr>
              <a:t>Geographic Gaps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3C323-80E7-293E-27A5-3CCF7713634F}"/>
              </a:ext>
            </a:extLst>
          </p:cNvPr>
          <p:cNvSpPr txBox="1"/>
          <p:nvPr/>
        </p:nvSpPr>
        <p:spPr>
          <a:xfrm>
            <a:off x="1799617" y="5019472"/>
            <a:ext cx="765696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Evaluate channel performance, seller activity, orders, sales and reviews</a:t>
            </a:r>
          </a:p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Identify best performers and problem sellers</a:t>
            </a:r>
          </a:p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Identify states where there are customers but no sellers</a:t>
            </a:r>
          </a:p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Recommend steps for acquisitions, onboarding and logistics</a:t>
            </a:r>
          </a:p>
        </p:txBody>
      </p:sp>
    </p:spTree>
    <p:extLst>
      <p:ext uri="{BB962C8B-B14F-4D97-AF65-F5344CB8AC3E}">
        <p14:creationId xmlns:p14="http://schemas.microsoft.com/office/powerpoint/2010/main" val="402631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E3DCB7-7441-0A4E-6691-95D9D1383424}"/>
              </a:ext>
            </a:extLst>
          </p:cNvPr>
          <p:cNvSpPr txBox="1"/>
          <p:nvPr/>
        </p:nvSpPr>
        <p:spPr>
          <a:xfrm>
            <a:off x="875489" y="1371601"/>
            <a:ext cx="94163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-Order data: 99,441 orders, 99,441 customers, 3,095 sellers; Marketing Funnel: 8,000 MQLs, 842 deals closed</a:t>
            </a:r>
          </a:p>
          <a:p>
            <a:endParaRPr lang="en-US" sz="2400" dirty="0"/>
          </a:p>
          <a:p>
            <a:r>
              <a:rPr lang="en-US" sz="2400" dirty="0"/>
              <a:t>-Table relating sellers and orders: 100,010 records (97,819 shipped), 2,970 sellers with shipped orders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r>
              <a:rPr lang="en-US" sz="2400" dirty="0"/>
              <a:t>- No duplicates found; row counts verified after each merge operation</a:t>
            </a:r>
          </a:p>
          <a:p>
            <a:r>
              <a:rPr lang="en-US" sz="2400" dirty="0"/>
              <a:t>763 orders lacking reviews have been marked as null and removed from calculations</a:t>
            </a:r>
          </a:p>
          <a:p>
            <a:endParaRPr lang="en-US" sz="2400" dirty="0"/>
          </a:p>
          <a:p>
            <a:r>
              <a:rPr lang="en-US" sz="2400" dirty="0"/>
              <a:t>-Calculations started with an average per order and followed by calculation per seller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CD5EB-2423-F197-CDDD-C4D7F164AA58}"/>
              </a:ext>
            </a:extLst>
          </p:cNvPr>
          <p:cNvSpPr txBox="1"/>
          <p:nvPr/>
        </p:nvSpPr>
        <p:spPr>
          <a:xfrm>
            <a:off x="3190672" y="408562"/>
            <a:ext cx="4990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Preparation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065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05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Key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5139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lang="en-US" sz="2000" dirty="0"/>
              <a:t>MQL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9440" y="1383068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Potential seller who passed through the marketing funnel.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9075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Closed 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9440" y="2019075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An MQL which became an </a:t>
            </a:r>
            <a:r>
              <a:rPr lang="en-US" dirty="0" err="1"/>
              <a:t>Olist</a:t>
            </a:r>
            <a:r>
              <a:rPr lang="en-US" dirty="0"/>
              <a:t> seller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74696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Source of 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9440" y="2705744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The method of customer acquisition like PPC, SEO, or referrals.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9894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SDR / 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9440" y="3349894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Employee who worked on selling to or closing the seller.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4599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Active 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9440" y="3994044"/>
            <a:ext cx="859536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The most recent order for that particular seller falls within 7 days from the last order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5984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Late Delivery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4882155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Number of late deliveries over total number of deliveries.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FINDINGS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Funnel &amp; Seller Composition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Marketing-qualified leads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8056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won sellers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18388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Lead-to-seller conversion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in the e-commerce data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4747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48056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587 / 242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Resellers / manufacturers (rest missing or other)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18388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22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SDRs / SRs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sellers compare across acquisition channels, and are referrals the best?</a:t>
            </a:r>
            <a:endParaRPr lang="en-US" sz="2800" dirty="0"/>
          </a:p>
        </p:txBody>
      </p:sp>
      <p:pic>
        <p:nvPicPr>
          <p:cNvPr id="4" name="Image 0" descr="new/a2_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52" y="1600200"/>
            <a:ext cx="985284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employees (sales reps) selecting the right sellers?</a:t>
            </a:r>
            <a:endParaRPr lang="en-US" sz="2800" dirty="0"/>
          </a:p>
        </p:txBody>
      </p:sp>
      <p:pic>
        <p:nvPicPr>
          <p:cNvPr id="4" name="Image 0" descr="new/a2_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58" y="1600200"/>
            <a:ext cx="98428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top-performing sellers?</a:t>
            </a:r>
            <a:endParaRPr lang="en-US" sz="2800" dirty="0"/>
          </a:p>
        </p:txBody>
      </p:sp>
      <p:pic>
        <p:nvPicPr>
          <p:cNvPr id="4" name="Image 0" descr="new/a2_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327" y="1600200"/>
            <a:ext cx="893029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red-flag sellers and why?</a:t>
            </a:r>
            <a:endParaRPr lang="en-US" sz="2800" dirty="0"/>
          </a:p>
        </p:txBody>
      </p:sp>
      <p:pic>
        <p:nvPicPr>
          <p:cNvPr id="4" name="Image 0" descr="new/a2_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52" y="1600200"/>
            <a:ext cx="985284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vs. resellers: how do they compare?</a:t>
            </a:r>
            <a:endParaRPr lang="en-US" sz="2800" dirty="0"/>
          </a:p>
        </p:txBody>
      </p:sp>
      <p:pic>
        <p:nvPicPr>
          <p:cNvPr id="4" name="Image 0" descr="new/a2_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1675397"/>
            <a:ext cx="10881360" cy="4705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8116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Are top sellers successful because of price or customer satisfaction?</a:t>
            </a:r>
          </a:p>
        </p:txBody>
      </p:sp>
      <p:pic>
        <p:nvPicPr>
          <p:cNvPr id="3" name="Picture 2" descr="q8_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32120" cy="3977639"/>
          </a:xfrm>
          <a:prstGeom prst="rect">
            <a:avLst/>
          </a:prstGeom>
        </p:spPr>
      </p:pic>
      <p:pic>
        <p:nvPicPr>
          <p:cNvPr id="4" name="Picture 3" descr="q8_review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53212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972800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82239"/>
                </a:solidFill>
                <a:latin typeface="Aptos"/>
              </a:defRPr>
            </a:pPr>
            <a:r>
              <a:rPr lang="ar-BH" dirty="0"/>
              <a:t>While</a:t>
            </a:r>
            <a:r>
              <a:rPr lang="en-US" dirty="0"/>
              <a:t> top sellers charge higher product prices (223.75 versus 177.50) but have a lower number of reviews (4.11 versus 4.18), this points out that their sales success depends on price rather than customer reviews.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A98017-50E7-4E8C-A1E1-537F2BD0B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2" y="1100970"/>
            <a:ext cx="11982031" cy="56390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ED048B-A0EF-77C9-8838-165F22E2B058}"/>
              </a:ext>
            </a:extLst>
          </p:cNvPr>
          <p:cNvSpPr txBox="1"/>
          <p:nvPr/>
        </p:nvSpPr>
        <p:spPr>
          <a:xfrm>
            <a:off x="0" y="250724"/>
            <a:ext cx="6415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Where are the top sellers located?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B0C9DA-2B88-3D9D-CC42-488AAAC1215B}"/>
              </a:ext>
            </a:extLst>
          </p:cNvPr>
          <p:cNvSpPr txBox="1"/>
          <p:nvPr/>
        </p:nvSpPr>
        <p:spPr>
          <a:xfrm>
            <a:off x="7577593" y="644057"/>
            <a:ext cx="569136" cy="654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</a:t>
            </a:r>
          </a:p>
          <a:p>
            <a:r>
              <a:rPr lang="en-US" dirty="0"/>
              <a:t>BA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44286A-FBE3-8CF8-E2A5-978AA4FBA772}"/>
              </a:ext>
            </a:extLst>
          </p:cNvPr>
          <p:cNvSpPr/>
          <p:nvPr/>
        </p:nvSpPr>
        <p:spPr>
          <a:xfrm>
            <a:off x="8030817" y="715617"/>
            <a:ext cx="453225" cy="23058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A69AD-4F44-E0D4-B3B2-53578380AEBF}"/>
              </a:ext>
            </a:extLst>
          </p:cNvPr>
          <p:cNvSpPr/>
          <p:nvPr/>
        </p:nvSpPr>
        <p:spPr>
          <a:xfrm>
            <a:off x="8014915" y="1017765"/>
            <a:ext cx="469127" cy="23058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75592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How many sellers do we have, and are all active?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9728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5F6D7B"/>
                </a:solidFill>
                <a:latin typeface="Aptos"/>
              </a:defRPr>
            </a:pPr>
            <a:r>
              <a:rPr dirty="0"/>
              <a:t>Definition used: Active seller = most recent order within </a:t>
            </a:r>
            <a:r>
              <a:rPr lang="ar-BH" dirty="0"/>
              <a:t>30</a:t>
            </a:r>
            <a:r>
              <a:rPr dirty="0"/>
              <a:t> days of the final order date in the dataset.</a:t>
            </a:r>
          </a:p>
        </p:txBody>
      </p:sp>
      <p:pic>
        <p:nvPicPr>
          <p:cNvPr id="4" name="Picture 3" descr="q10_activ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9224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828800"/>
            <a:ext cx="379476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200" b="1">
                <a:solidFill>
                  <a:srgbClr val="082239"/>
                </a:solidFill>
                <a:latin typeface="Aptos"/>
              </a:defRPr>
            </a:pPr>
            <a:r>
              <a:t>3,095 total sellers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651760"/>
            <a:ext cx="379476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900" b="1">
                <a:solidFill>
                  <a:srgbClr val="00897B"/>
                </a:solidFill>
                <a:latin typeface="Aptos"/>
              </a:defRPr>
            </a:pPr>
            <a:r>
              <a:t>1,221 active sellers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3337560"/>
            <a:ext cx="379476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900" b="1">
                <a:solidFill>
                  <a:srgbClr val="082239"/>
                </a:solidFill>
                <a:latin typeface="Aptos"/>
              </a:defRPr>
            </a:pPr>
            <a:r>
              <a:t>1,874 inactive sellers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251960"/>
            <a:ext cx="379476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5F6D7B"/>
                </a:solidFill>
                <a:latin typeface="Aptos"/>
              </a:defRPr>
            </a:pPr>
            <a:r>
              <a:rPr dirty="0"/>
              <a:t>Not all sellers are active. The inactive group is larger than the active group under the </a:t>
            </a:r>
            <a:r>
              <a:rPr lang="ar-BH" dirty="0"/>
              <a:t>30</a:t>
            </a:r>
            <a:r>
              <a:rPr dirty="0"/>
              <a:t>-day activity definition.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have customers but zero sellers?</a:t>
            </a:r>
            <a:endParaRPr lang="en-US" sz="2800" dirty="0"/>
          </a:p>
        </p:txBody>
      </p:sp>
      <p:pic>
        <p:nvPicPr>
          <p:cNvPr id="4" name="Image 0" descr="new/b2_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318" y="1600200"/>
            <a:ext cx="639631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 good seller-to-customer ratio?</a:t>
            </a:r>
            <a:endParaRPr lang="en-US" sz="2800" dirty="0"/>
          </a:p>
        </p:txBody>
      </p:sp>
      <p:pic>
        <p:nvPicPr>
          <p:cNvPr id="4" name="Image 0" descr="new/b2_4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452" y="1600200"/>
            <a:ext cx="58640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Seller Activation After Signing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74720" cy="1005840"/>
          </a:xfrm>
          <a:prstGeom prst="roundRect">
            <a:avLst/>
          </a:prstGeom>
          <a:solidFill>
            <a:srgbClr val="F5F8FA"/>
          </a:solidFill>
          <a:ln w="1587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82239"/>
                </a:solidFill>
                <a:latin typeface="Aptos"/>
              </a:rPr>
              <a:t>842 signed sellers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17320"/>
            <a:ext cx="3474720" cy="1005840"/>
          </a:xfrm>
          <a:prstGeom prst="roundRect">
            <a:avLst/>
          </a:prstGeom>
          <a:solidFill>
            <a:srgbClr val="F5F8FA"/>
          </a:solidFill>
          <a:ln w="1587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82239"/>
                </a:solidFill>
                <a:latin typeface="Aptos"/>
              </a:rPr>
              <a:t>133 sold within 30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17320"/>
            <a:ext cx="3474720" cy="1005840"/>
          </a:xfrm>
          <a:prstGeom prst="roundRect">
            <a:avLst/>
          </a:prstGeom>
          <a:solidFill>
            <a:srgbClr val="F5F8FA"/>
          </a:solidFill>
          <a:ln w="1587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82239"/>
                </a:solidFill>
                <a:latin typeface="Aptos"/>
              </a:rPr>
              <a:t>250 sold within 60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241280" cy="114492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400" b="1">
                <a:solidFill>
                  <a:srgbClr val="082239"/>
                </a:solidFill>
                <a:latin typeface="Aptos"/>
              </a:defRPr>
            </a:pPr>
            <a:r>
              <a:rPr lang="en-US" sz="2400" b="1" dirty="0">
                <a:solidFill>
                  <a:srgbClr val="082239"/>
                </a:solidFill>
                <a:latin typeface="Aptos"/>
              </a:rPr>
              <a:t>84.2% of the signed sellers have not made a first sale within 30 days and 70.31% have not made a first sale within 60 days.</a:t>
            </a:r>
          </a:p>
          <a:p>
            <a:pPr>
              <a:defRPr sz="2400" b="1">
                <a:solidFill>
                  <a:srgbClr val="082239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241280" cy="86793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0">
                <a:solidFill>
                  <a:srgbClr val="5F6D7B"/>
                </a:solidFill>
                <a:latin typeface="Aptos"/>
              </a:defRPr>
            </a:pPr>
            <a:r>
              <a:rPr lang="ar-BH" dirty="0"/>
              <a:t>There</a:t>
            </a:r>
            <a:r>
              <a:rPr lang="en-US" dirty="0">
                <a:solidFill>
                  <a:srgbClr val="5F6D7B"/>
                </a:solidFill>
                <a:latin typeface="Aptos"/>
              </a:rPr>
              <a:t> is clearly an onboarding problem. The new sellers require assistance and follow-ups for 30-60 days for better activation</a:t>
            </a:r>
          </a:p>
          <a:p>
            <a:pPr>
              <a:defRPr sz="1800" b="0">
                <a:solidFill>
                  <a:srgbClr val="5F6D7B"/>
                </a:solidFill>
                <a:latin typeface="Aptos"/>
              </a:defRPr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lead channel brings the most retained sellers? Activation rate by channel</a:t>
            </a:r>
            <a:endParaRPr lang="en-US" sz="2800" dirty="0"/>
          </a:p>
        </p:txBody>
      </p:sp>
      <p:pic>
        <p:nvPicPr>
          <p:cNvPr id="4" name="Image 0" descr="new/n_7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308" y="1600200"/>
            <a:ext cx="73023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0757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rPr dirty="0"/>
              <a:t>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234440"/>
            <a:ext cx="905256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Paid search should take priority; testing direct traffic and better unknown channel attribution continues.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rPr dirty="0"/>
              <a:t>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847088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Include structured first sale program in first 30-60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459736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Bench the best SR’s/SDR’s and help develop poor performing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72384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Seller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072384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Create separate benchmarks for resellers and manufacturers.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85032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685032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Focus on acquiring sellers from AL first, then TO, AP and RR.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297680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Focus on slower seller states like MA and CE first prior to benchmarking.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10328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910328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Look at sellers who have late deliveries and poor reviews.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109728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/>
              <a:t>Step to follow: apply this pattern to find healthy active sellers from newly acquired sellers.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11576-A31B-D956-2C00-0FB25377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044" y="643467"/>
            <a:ext cx="463791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9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815</Words>
  <Application>Microsoft Office PowerPoint</Application>
  <PresentationFormat>Widescreen</PresentationFormat>
  <Paragraphs>108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MUJTABA MERZA H. ALNASHABA</dc:creator>
  <cp:lastModifiedBy>MUJTABA MERZA H. ALNASHABA</cp:lastModifiedBy>
  <cp:revision>5</cp:revision>
  <dcterms:created xsi:type="dcterms:W3CDTF">2026-10-04T08:30:30Z</dcterms:created>
  <dcterms:modified xsi:type="dcterms:W3CDTF">2026-10-05T07:33:26Z</dcterms:modified>
</cp:coreProperties>
</file>